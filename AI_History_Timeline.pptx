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196596"/>
            <a:ext cx="553212" cy="352044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5852" y="196596"/>
            <a:ext cx="553212" cy="452628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195560" y="649224"/>
            <a:ext cx="603504" cy="402336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195560" y="196596"/>
            <a:ext cx="50292" cy="854964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9064" y="649224"/>
            <a:ext cx="251460" cy="452628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60636" y="516636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13848" y="164592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67060" y="617220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63556" y="1019556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18520" y="1069848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822960" y="4832604"/>
            <a:ext cx="452628" cy="288036"/>
          </a:xfrm>
          <a:prstGeom prst="line">
            <a:avLst/>
          </a:prstGeom>
          <a:noFill/>
          <a:ln w="9525">
            <a:solidFill>
              <a:srgbClr val="8FB4D9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5588" y="4832604"/>
            <a:ext cx="452628" cy="370332"/>
          </a:xfrm>
          <a:prstGeom prst="line">
            <a:avLst/>
          </a:prstGeom>
          <a:noFill/>
          <a:ln w="9525">
            <a:solidFill>
              <a:srgbClr val="8FB4D9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234440" y="5202936"/>
            <a:ext cx="493776" cy="329184"/>
          </a:xfrm>
          <a:prstGeom prst="line">
            <a:avLst/>
          </a:prstGeom>
          <a:noFill/>
          <a:ln w="9525">
            <a:solidFill>
              <a:srgbClr val="8FB4D9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34440" y="4832604"/>
            <a:ext cx="41148" cy="699516"/>
          </a:xfrm>
          <a:prstGeom prst="line">
            <a:avLst/>
          </a:prstGeom>
          <a:noFill/>
          <a:ln w="9525">
            <a:solidFill>
              <a:srgbClr val="8FB4D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28216" y="5202936"/>
            <a:ext cx="205740" cy="370332"/>
          </a:xfrm>
          <a:prstGeom prst="line">
            <a:avLst/>
          </a:prstGeom>
          <a:noFill/>
          <a:ln w="9525">
            <a:solidFill>
              <a:srgbClr val="8FB4D9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0956" y="5088636"/>
            <a:ext cx="64008" cy="64008"/>
          </a:xfrm>
          <a:prstGeom prst="ellipse">
            <a:avLst/>
          </a:prstGeom>
          <a:solidFill>
            <a:srgbClr val="8FB4D9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43584" y="4800600"/>
            <a:ext cx="64008" cy="64008"/>
          </a:xfrm>
          <a:prstGeom prst="ellipse">
            <a:avLst/>
          </a:prstGeom>
          <a:solidFill>
            <a:srgbClr val="8FB4D9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96212" y="5170932"/>
            <a:ext cx="64008" cy="64008"/>
          </a:xfrm>
          <a:prstGeom prst="ellipse">
            <a:avLst/>
          </a:prstGeom>
          <a:solidFill>
            <a:srgbClr val="8FB4D9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02436" y="5500116"/>
            <a:ext cx="64008" cy="64008"/>
          </a:xfrm>
          <a:prstGeom prst="ellipse">
            <a:avLst/>
          </a:prstGeom>
          <a:solidFill>
            <a:srgbClr val="8FB4D9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1952" y="5541264"/>
            <a:ext cx="64008" cy="64008"/>
          </a:xfrm>
          <a:prstGeom prst="ellipse">
            <a:avLst/>
          </a:prstGeom>
          <a:solidFill>
            <a:srgbClr val="8FB4D9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ARTIFICIAL INTELLIGENCE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Timeline of Milestones, Winters, and Breakthroughs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— Present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634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Dartmouth Conference to the generative AI era — how a decades-long cycle of hype, funding collapse, and quiet persistence built the technology reshaping every industry today.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– 1957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Birth of an Idea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— Warren McCulloch and Walter Pitts publish a mathematical model of brain-like on/off units, the first blueprint for circuits that could “think.”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— Alan Turing asks “Can machines think?” and proposes the Turing Test: if a machine can hold a convincing conversation, its intelligence deserves to be taken seriously.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 — John McCarthy coins the term “artificial intelligence” at the Dartmouth Summer Research Project, joined by Marvin Minsky, Allen Newell, Herbert Simon, and Claude Shannon — widely seen as the field's founding moment.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 — Frank Rosenblatt builds the Perceptron, an early neural network that learns to recognize simple patterns directly from data rather than following fixed rules.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 – 1973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Era of Optimism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Samuel builds a self-improving checkers program at IBM — one of the earliest working demonstrations of a machine that learns from experience.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 — ELIZA, an early chatbot built at MIT, mimics a psychotherapist convincingly enough that some users forget they're talking to software.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and government agencies in the U.S. and U.K. pour money into university AI labs, and the press regularly predicts machines that will soon think like people.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 — Marvin Minsky predicts human-level machine intelligence within a few years — a promise the technology of the era can't yet keep.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79425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Era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8FB4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 – 1980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AI Winter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 — The ALPAC report concludes machine translation has failed to deliver on its promises, ending U.S. government funding for the effort.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— Minsky and Papert's book “Perceptrons” exposes hard mathematical limits of single-layer neural networks, cooling enthusiasm for that approach for over a decade.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— Britain's Lighthill Report delivers a harsh verdict on AI's progress, prompting the U.K. to slash research funding.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Mansfield Amendment redirects U.S. military research money away from open-ended science, and DARPA sharply cuts back university AI funding.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0329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 I — funding and enthusiasm collapse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– 1987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Through Expert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“expert systems,” built to encode a specialist's know-how, become AI's first genuine commercial success story.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XCON, developed at Carnegie Mellon for Digital Equipment Corporation, is credited with saving the company tens of millions of dollars, reviving industry confidence in AI.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launches its ambitious Fifth Generation Computer Systems project; the U.S. answers with DARPA's Strategic Computing Initiative, and specialized LISP-machine hardware companies boom.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 — Researchers popularize backpropagation, a practical method for training neural networks with multiple layers, setting up ideas that won't pay off for decades.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1233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AI spring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8FB4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 – 1993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AI Winter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 — Cheaper general-purpose workstations from Apple and Sun Microsystems match specialized LISP machines' performance, and that hardware market collapses almost overnight.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prove brittle and expensive to maintain once they're pushed beyond the narrow problems they were built for.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1987 stock market crash (“Black Monday”) makes companies far more risk-averse about funding unproven technology.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AI budgets shrink sharply, and several once-prominent AI vendors close or downsize drastically.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2137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 II — the industry retrenches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– 2006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Quiet Resurgence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quietly shift from rigid, logic-based systems toward statistical, data-driven machine learning.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— IBM's Deep Blue defeats world chess champion Garry Kasparov, showing that raw computing power plus deep search can rival human expertise in a narrow domain.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— Stanford's self-driving car “Stanley” wins the DARPA Grand Challenge, an early sign of AI moving from the lab toward the real world.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internet begins generating the enormous, messy datasets that future deep learning systems will depend 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041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continues, out of the spotlight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– 2012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 Learning Breakthrough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revive multi-layer neural networks under a new name — “deep learning” — and start building far deeper architectures than before.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— AlexNet, created by Alex Krizhevsky with Geoffrey Hinton and Ilya Sutskever, wins the ImageNet competition by a huge margin, cutting the error rate nearly in half.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depends on three things finally converging: multi-layer neural networks, internet-scale labeled datasets, and Nvidia GPUs repurposed for massive parallel math.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regularization, introduced the same year, helps these deeper networks generalize instead of just memorizing their training data.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3945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finally catches up with theory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Games, Attention, and Scale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— Google DeepMind's AlphaGo defeats Go champion Lee Sedol, mastering a game long considered too intuitive for machines to handle.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Google researchers publish “Attention Is All You Need,” introducing the Transformer architecture, which processes an entire sentence in parallel instead of word by word.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becomes the foundation for BERT, GPT, and nearly every major language model that follows.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OpenAI's GPT-3, with 175 billion parameters, demonstrates how dramatically these models improve once given enough data and computing power.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4849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modern AI arrives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PRESENT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Goes Mainstream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OpenAI's DALL-E shows the same kind of architecture that generates text can also generate images from a written description.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2022 — ChatGPT launches and becomes one of the fastest-growing consumer applications ever, reaching mass adoption within months.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(RLHF) helps tune these models to be more helpful and safer for the public to use.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lets OpenAI, Google, Anthropic, and Meta train and serve enormous models without every user needing specialized hardware — and competition accelerates with Gemini, LLaMA, Claude, and open alternatives like DeepSeek.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5753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802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becomes a household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8229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Across Industries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— DeepMind's AlphaFold (2020) solves a decades-old grand challenge by predicting protein structures, accelerating drug discovery worldwide.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— self-driving systems, from Stanford's 2005 DARPA Grand Challenge win to today's Waymo robotaxi service, build directly on decades of AI research.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industries — generative tools now write, code, compose, and illustrate alongside human collaborators.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— Geoffrey Hinton and John Hopfield won the 2024 Nobel Prize in Physics, and DeepMind's Demis Hassabis and John Jumper won the Nobel Prize in Chemistry, for AI-driven scientific breakthroughs.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25400">
            <a:solidFill>
              <a:srgbClr val="16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18079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0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1" name="Shape 9"/>
          <p:cNvSpPr/>
          <p:nvPr/>
        </p:nvSpPr>
        <p:spPr>
          <a:xfrm>
            <a:off x="42260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43509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13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317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6221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71252" y="6313932"/>
            <a:ext cx="82296" cy="82296"/>
          </a:xfrm>
          <a:prstGeom prst="ellipse">
            <a:avLst/>
          </a:prstGeom>
          <a:solidFill>
            <a:srgbClr val="7E93A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66576" y="63002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labs to everyday life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058400" y="260604"/>
            <a:ext cx="452628" cy="288036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1028" y="260604"/>
            <a:ext cx="452628" cy="370332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469880" y="630936"/>
            <a:ext cx="493776" cy="329184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69880" y="260604"/>
            <a:ext cx="41148" cy="699516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63656" y="630936"/>
            <a:ext cx="205740" cy="370332"/>
          </a:xfrm>
          <a:prstGeom prst="line">
            <a:avLst/>
          </a:prstGeom>
          <a:noFill/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26396" y="516636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9024" y="228600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1652" y="598932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37876" y="928116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137392" y="969264"/>
            <a:ext cx="64008" cy="6400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Winter. (n.d.). In Wikipedia. https://en.wikipedia.org/wiki/AI_winter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DataCamp. (2025). AI Winter: Understanding the Cycles of AI Development. https://www.datacamp.com/blog/ai-winter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Coursera. (n.d.). The History of AI: A Timeline of Artificial Intelligence. https://www.coursera.org/articles/history-of-ai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Cyber Institute. (2026). The History of Artificial Intelligence: A Timeline from Turing to Today. https://swisscyberinstitute.com/blog/history-artificial-intelligence/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Navigator. (n.d.). AI Timeline: Key Events in Artificial Intelligence from 1950-2025. https://www.theainavigator.com/ai-timeline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Quillbot. (2026). The History of AI | A Brief Timeline of Development. https://quillbot.com/blog/ai-writing-tools/history-of-ai/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Nadcab. (2026). History of Machine Learning: Evolution &amp; Key Milestones. https://www.nadcab.com/blog/history-of-machine-learning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Maryville Online. (2023). History of AI: Timeline and the Future. https://online.maryville.edu/blog/history-of-ai/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Adapt and personalize this timeline with your own research, wording, and creative design choices before submitting — your assignment requires original work.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2026-07-11T17:06:24Z</dcterms:created>
  <dcterms:modified xsi:type="dcterms:W3CDTF">2026-07-11T17:06:24Z</dcterms:modified>
</cp:coreProperties>
</file>